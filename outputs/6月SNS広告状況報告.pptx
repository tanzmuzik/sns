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6" y="5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2377440"/>
            <a:ext cx="5943600" cy="59436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3657600"/>
            <a:ext cx="3840480" cy="38404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ADCFC"/>
                </a:solidFill>
                <a:latin typeface="游ゴシック"/>
              </a:rPr>
              <a:t>SNS広告 月次報告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游明朝"/>
              </a:rPr>
              <a:t>6月のSNS広告状況報告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ADCFC"/>
                </a:solidFill>
                <a:latin typeface="游ゴシック"/>
              </a:rPr>
              <a:t>Meta広告（Facebook / Instagram）運用状況と改善の取り組み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892040"/>
            <a:ext cx="502920" cy="411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游ゴシック"/>
              </a:rPr>
              <a:t>発表者：ふくやま やすひと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ADCFC"/>
                </a:solidFill>
                <a:latin typeface="游ゴシック"/>
              </a:rP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游明朝"/>
              </a:rPr>
              <a:t>これまでの経緯｜広告運用の背景共有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6400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6B8C"/>
                </a:solidFill>
                <a:latin typeface="游ゴシック"/>
              </a:rPr>
              <a:t>今回初めてご担当される方にも分かるよう、まず前提からご説明します。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57600" cy="169164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657600" cy="50292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游明朝"/>
              </a:rPr>
              <a:t>4月下旬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游ゴシック"/>
              </a:rPr>
              <a:t>広告運用スタート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52928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游ゴシック"/>
              </a:rPr>
              <a:t>「マンションまるごとプラン」の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游ゴシック"/>
              </a:rPr>
              <a:t>認知拡大・サイト誘導を目的に開始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74519"/>
            <a:ext cx="27432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A6B8C"/>
                </a:solidFill>
                <a:latin typeface="游ゴシック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74519"/>
            <a:ext cx="3657600" cy="169164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25112" y="1874519"/>
            <a:ext cx="3657600" cy="50292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5112" y="2103120"/>
            <a:ext cx="3657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5112" y="1874519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游明朝"/>
              </a:rPr>
              <a:t>5月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871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游ゴシック"/>
              </a:rPr>
              <a:t>実績分析・課題発見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852928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游ゴシック"/>
              </a:rPr>
              <a:t>視聴離脱とフォーム不具合という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游ゴシック"/>
              </a:rPr>
              <a:t>2つの課題を特定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1874519"/>
            <a:ext cx="27432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A6B8C"/>
                </a:solidFill>
                <a:latin typeface="游ゴシック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874519"/>
            <a:ext cx="3657600" cy="169164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01583" y="1874519"/>
            <a:ext cx="3657600" cy="502920"/>
          </a:xfrm>
          <a:prstGeom prst="roundRect">
            <a:avLst>
              <a:gd name="adj" fmla="val 9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1583" y="2103120"/>
            <a:ext cx="36576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1583" y="1874519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游明朝"/>
              </a:rPr>
              <a:t>6月（現在）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24871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游ゴシック"/>
              </a:rPr>
              <a:t>改善実施・効果検証中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852928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游ゴシック"/>
              </a:rPr>
              <a:t>フォーム修正を実施し、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游ゴシック"/>
              </a:rPr>
              <a:t>新クリエイティブの制作を推進中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947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977639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游明朝"/>
              </a:rPr>
              <a:t>何のために運用しているか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7083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游ゴシック"/>
              </a:rPr>
              <a:t>鹿児島のマンションオーナー向け「マンションまるごとプラン」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游ゴシック"/>
              </a:rPr>
              <a:t>（インターネット無料設備）の認知拡大と、資料請求の獲得が目的です。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7947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97763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游明朝"/>
              </a:rPr>
              <a:t>2つのキャンペーンを並行運用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70832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游ゴシック"/>
              </a:rPr>
              <a:t>① LPVキャンペーン：サイトへの誘導・認知拡大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游ゴシック"/>
              </a:rPr>
              <a:t>② リード獲得キャンペーン：資料請求フォームでの問い合わせ獲得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13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6B8C"/>
                </a:solidFill>
                <a:latin typeface="游ゴシック"/>
              </a:rPr>
              <a:t>（参考）よく出てくる用語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79008"/>
            <a:ext cx="3593592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870448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游ゴシック"/>
              </a:rPr>
              <a:t>最適化スコア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63056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游ゴシック"/>
              </a:rPr>
              <a:t>Metaが広告の改善余地を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游ゴシック"/>
              </a:rPr>
              <a:t>点数化した指標（100点満点）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3672" y="5779008"/>
            <a:ext cx="3593592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62272" y="5870448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游ゴシック"/>
              </a:rPr>
              <a:t>LPV（ランディングページビュー）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6163056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游ゴシック"/>
              </a:rPr>
              <a:t>広告から自社サイトに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游ゴシック"/>
              </a:rPr>
              <a:t>訪問された回数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18704" y="5779008"/>
            <a:ext cx="3593592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47304" y="5870448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游ゴシック"/>
              </a:rPr>
              <a:t>リード（フォーム）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7304" y="6163056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游ゴシック"/>
              </a:rPr>
              <a:t>資料請求フォームから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游ゴシック"/>
              </a:rPr>
              <a:t>送信された問い合わせの件数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B8C"/>
                </a:solidFill>
                <a:latin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游明朝"/>
              </a:rPr>
              <a:t>6月のKPI評価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6400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6B8C"/>
                </a:solidFill>
                <a:latin typeface="游ゴシック"/>
              </a:rPr>
              <a:t>目標に対する実績を5段階評価（◎○△×）で確認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游ゴシック"/>
              </a:rPr>
              <a:t>KPI実績（集計期間：4/30〜6/7　※直近2週間データを中心に集計）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12848"/>
          <a:ext cx="11091672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游明朝"/>
                        </a:rPr>
                        <a:t>指標</a:t>
                      </a:r>
                    </a:p>
                  </a:txBody>
                  <a:tcPr marL="137160" marR="13716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明朝"/>
                        </a:rPr>
                        <a:t>目標</a:t>
                      </a:r>
                    </a:p>
                  </a:txBody>
                  <a:tcPr marL="137160" marR="13716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明朝"/>
                        </a:rPr>
                        <a:t>実績</a:t>
                      </a:r>
                    </a:p>
                  </a:txBody>
                  <a:tcPr marL="137160" marR="137160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明朝"/>
                        </a:rPr>
                        <a:t>評価</a:t>
                      </a:r>
                    </a:p>
                  </a:txBody>
                  <a:tcPr marL="137160" marR="137160" anchor="ctr"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5C"/>
                          </a:solidFill>
                          <a:latin typeface="游ゴシック"/>
                        </a:rPr>
                        <a:t>LP到達単価（CPLPV）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¥60〜150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¥49〜56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9D55"/>
                          </a:solidFill>
                          <a:latin typeface="游明朝"/>
                        </a:rPr>
                        <a:t>◎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5C"/>
                          </a:solidFill>
                          <a:latin typeface="游ゴシック"/>
                        </a:rPr>
                        <a:t>フック率（動画冒頭の惹きつけ）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30%以上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31%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9D55"/>
                          </a:solidFill>
                          <a:latin typeface="游明朝"/>
                        </a:rPr>
                        <a:t>◎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5C"/>
                          </a:solidFill>
                          <a:latin typeface="游ゴシック"/>
                        </a:rPr>
                        <a:t>継続率（最後まで見た割合）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10%以上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約6%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E08E2B"/>
                          </a:solidFill>
                          <a:latin typeface="游明朝"/>
                        </a:rPr>
                        <a:t>△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5C"/>
                          </a:solidFill>
                          <a:latin typeface="游ゴシック"/>
                        </a:rPr>
                        <a:t>LP問い合わせ件数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1件以上/月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0件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E05A47"/>
                          </a:solidFill>
                          <a:latin typeface="游明朝"/>
                        </a:rPr>
                        <a:t>×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5C"/>
                          </a:solidFill>
                          <a:latin typeface="游ゴシック"/>
                        </a:rPr>
                        <a:t>最適化スコア（Metaの広告品質指標）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改善傾向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70点（前回66点）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65A82"/>
                          </a:solidFill>
                          <a:latin typeface="游明朝"/>
                        </a:rPr>
                        <a:t>○</a:t>
                      </a:r>
                    </a:p>
                  </a:txBody>
                  <a:tcPr marL="137160" marR="137160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5C"/>
                          </a:solidFill>
                          <a:latin typeface="游ゴシック"/>
                        </a:rPr>
                        <a:t>消化金額（4/30〜6/7累計）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¥9,600以内/月換算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5C"/>
                          </a:solidFill>
                          <a:latin typeface="游ゴシック"/>
                        </a:rPr>
                        <a:t>¥11,299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65A82"/>
                          </a:solidFill>
                          <a:latin typeface="游明朝"/>
                        </a:rPr>
                        <a:t>○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9D55"/>
                </a:solidFill>
                <a:latin typeface="游明朝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916168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C"/>
                </a:solidFill>
                <a:latin typeface="游ゴシック"/>
              </a:rPr>
              <a:t>目標を大きく上回る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589788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65A82"/>
                </a:solidFill>
                <a:latin typeface="游明朝"/>
              </a:rP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5916168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C"/>
                </a:solidFill>
                <a:latin typeface="游ゴシック"/>
              </a:rPr>
              <a:t>目標どおり／改善傾向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589788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08E2B"/>
                </a:solidFill>
                <a:latin typeface="游明朝"/>
              </a:rPr>
              <a:t>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5916168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C"/>
                </a:solidFill>
                <a:latin typeface="游ゴシック"/>
              </a:rPr>
              <a:t>目標未達・改善余地あり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589788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E05A47"/>
                </a:solidFill>
                <a:latin typeface="游明朝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5916168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C"/>
                </a:solidFill>
                <a:latin typeface="游ゴシック"/>
              </a:rPr>
              <a:t>目標に届かず要対策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B8C"/>
                </a:solidFill>
                <a:latin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游明朝"/>
              </a:rPr>
              <a:t>実績の推移とハイライト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6400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6B8C"/>
                </a:solidFill>
                <a:latin typeface="游ゴシック"/>
              </a:rPr>
              <a:t>最適化スコアは 66点 → 70点（+4pt）に改善、LPVキャンペーンも前週比 +48.1%（27件→40件）と伸長中です。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C"/>
                </a:solidFill>
                <a:latin typeface="游ゴシック"/>
              </a:rPr>
              <a:t>A案は実績を推移グラフで、B案はまだ実績が出ていないため状況メモで共有します（同じ形式での比較はできません）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39696"/>
            <a:ext cx="6400800" cy="243230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5852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游明朝"/>
              </a:rPr>
              <a:t>A案｜LPVキャンペーンの推移（累計：4/30〜6/7）</a:t>
            </a:r>
          </a:p>
        </p:txBody>
      </p:sp>
      <p:pic>
        <p:nvPicPr>
          <p:cNvPr id="8" name="Picture 7" descr="lpv_trend_cumulative_4-30_6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64" y="2670048"/>
            <a:ext cx="321295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4041648"/>
            <a:ext cx="5852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8C"/>
                </a:solidFill>
                <a:latin typeface="游ゴシック"/>
              </a:rPr>
              <a:t>期間合計 232件　／　LPVあたり ¥49　／　消化金額 ¥11,299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139696"/>
            <a:ext cx="4251960" cy="2432304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2286000"/>
            <a:ext cx="3703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游明朝"/>
              </a:rPr>
              <a:t>B案｜リード獲得キャンペーン</a:t>
            </a:r>
          </a:p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游明朝"/>
              </a:rPr>
              <a:t>（実績ゼロのため状況メモ）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07792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05A47"/>
                </a:solidFill>
                <a:latin typeface="游明朝"/>
              </a:rPr>
              <a:t>0件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511296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游ゴシック"/>
              </a:rPr>
              <a:t>過去7日間の獲得実績（グラフ化できる推移データなし）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3895344"/>
            <a:ext cx="3703320" cy="228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4023360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300"/>
              </a:spcAft>
              <a:buFont typeface="Arial"/>
              <a:buChar char="●"/>
            </a:pPr>
            <a:r>
              <a:rPr sz="950">
                <a:solidFill>
                  <a:srgbClr val="FFFFFF"/>
                </a:solidFill>
                <a:latin typeface="游ゴシック"/>
              </a:rPr>
              <a:t>原因：フォームの言語設定不具合＋確認ステップ過多</a:t>
            </a:r>
          </a:p>
          <a:p>
            <a:pPr marL="228600" indent="-228600" algn="l">
              <a:lnSpc>
                <a:spcPct val="105000"/>
              </a:lnSpc>
              <a:spcAft>
                <a:spcPts val="300"/>
              </a:spcAft>
              <a:buFont typeface="Arial"/>
              <a:buChar char="●"/>
            </a:pPr>
            <a:r>
              <a:rPr sz="950">
                <a:solidFill>
                  <a:srgbClr val="FFFFFF"/>
                </a:solidFill>
                <a:latin typeface="游ゴシック"/>
              </a:rPr>
              <a:t>対応：言語設定とフォーム形式を修正済み</a:t>
            </a:r>
          </a:p>
          <a:p>
            <a:pPr marL="228600" indent="-228600" algn="l">
              <a:lnSpc>
                <a:spcPct val="105000"/>
              </a:lnSpc>
              <a:spcAft>
                <a:spcPts val="300"/>
              </a:spcAft>
              <a:buFont typeface="Arial"/>
              <a:buChar char="●"/>
            </a:pPr>
            <a:r>
              <a:rPr sz="950">
                <a:solidFill>
                  <a:srgbClr val="FFFFFF"/>
                </a:solidFill>
                <a:latin typeface="游ゴシック"/>
              </a:rPr>
              <a:t>見通し：来週には効果を数値で確認予定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36592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游ゴシック"/>
              </a:rPr>
              <a:t>期間別パフォーマンス（広告管理画面の実数値）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5074920"/>
          <a:ext cx="6400800" cy="1594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游ゴシック"/>
                        </a:rPr>
                        <a:t>指標</a:t>
                      </a:r>
                    </a:p>
                  </a:txBody>
                  <a:tcPr marL="109728" marR="109728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游ゴシック"/>
                        </a:rPr>
                        <a:t>直近2週間（5/27〜6/7）</a:t>
                      </a:r>
                    </a:p>
                  </a:txBody>
                  <a:tcPr marL="109728" marR="109728"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游ゴシック"/>
                        </a:rPr>
                        <a:t>累計（4/30〜6/7）</a:t>
                      </a:r>
                    </a:p>
                  </a:txBody>
                  <a:tcPr marL="109728" marR="109728" anchor="ctr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95C"/>
                          </a:solidFill>
                          <a:latin typeface="游ゴシック"/>
                        </a:rPr>
                        <a:t>ランディングページビュー</a:t>
                      </a:r>
                    </a:p>
                  </a:txBody>
                  <a:tcPr marL="109728" marR="10972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65A82"/>
                          </a:solidFill>
                          <a:latin typeface="游ゴシック"/>
                        </a:rPr>
                        <a:t>55件</a:t>
                      </a:r>
                    </a:p>
                  </a:txBody>
                  <a:tcPr marL="109728" marR="10972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65A82"/>
                          </a:solidFill>
                          <a:latin typeface="游ゴシック"/>
                        </a:rPr>
                        <a:t>232件</a:t>
                      </a:r>
                    </a:p>
                  </a:txBody>
                  <a:tcPr marL="109728" marR="10972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95C"/>
                          </a:solidFill>
                          <a:latin typeface="游ゴシック"/>
                        </a:rPr>
                        <a:t>LPVあたり単価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65A82"/>
                          </a:solidFill>
                          <a:latin typeface="游ゴシック"/>
                        </a:rPr>
                        <a:t>¥56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65A82"/>
                          </a:solidFill>
                          <a:latin typeface="游ゴシック"/>
                        </a:rPr>
                        <a:t>¥49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1295C"/>
                          </a:solidFill>
                          <a:latin typeface="游ゴシック"/>
                        </a:rPr>
                        <a:t>消化金額</a:t>
                      </a:r>
                    </a:p>
                  </a:txBody>
                  <a:tcPr marL="109728" marR="10972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65A82"/>
                          </a:solidFill>
                          <a:latin typeface="游ゴシック"/>
                        </a:rPr>
                        <a:t>¥3,073</a:t>
                      </a:r>
                    </a:p>
                  </a:txBody>
                  <a:tcPr marL="109728" marR="10972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65A82"/>
                          </a:solidFill>
                          <a:latin typeface="游ゴシック"/>
                        </a:rPr>
                        <a:t>¥11,299</a:t>
                      </a:r>
                    </a:p>
                  </a:txBody>
                  <a:tcPr marL="109728" marR="109728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178040" y="4736592"/>
            <a:ext cx="4251960" cy="169164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4901184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ADCFC"/>
                </a:solidFill>
                <a:latin typeface="游明朝"/>
              </a:rPr>
              <a:t>アカウント概要（直近7日間）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5285232"/>
            <a:ext cx="3886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600"/>
              </a:spcAft>
              <a:buFont typeface="Arial"/>
              <a:buChar char="●"/>
            </a:pPr>
            <a:r>
              <a:rPr sz="1150">
                <a:solidFill>
                  <a:srgbClr val="FFFFFF"/>
                </a:solidFill>
                <a:latin typeface="游ゴシック"/>
              </a:rPr>
              <a:t>消化金額：¥4,196　／　アクティブなキャンペーン：2件</a:t>
            </a:r>
          </a:p>
          <a:p>
            <a:pPr marL="228600" indent="-228600" algn="l">
              <a:lnSpc>
                <a:spcPct val="115000"/>
              </a:lnSpc>
              <a:spcAft>
                <a:spcPts val="600"/>
              </a:spcAft>
              <a:buFont typeface="Arial"/>
              <a:buChar char="●"/>
            </a:pPr>
            <a:r>
              <a:rPr sz="1150">
                <a:solidFill>
                  <a:srgbClr val="FFFFFF"/>
                </a:solidFill>
                <a:latin typeface="游ゴシック"/>
              </a:rPr>
              <a:t>LPVキャンペーン：40件（前週比 ↑48.1%）</a:t>
            </a:r>
          </a:p>
          <a:p>
            <a:pPr marL="228600" indent="-228600" algn="l">
              <a:lnSpc>
                <a:spcPct val="115000"/>
              </a:lnSpc>
              <a:spcAft>
                <a:spcPts val="600"/>
              </a:spcAft>
              <a:buFont typeface="Arial"/>
              <a:buChar char="●"/>
            </a:pPr>
            <a:r>
              <a:rPr sz="1150">
                <a:solidFill>
                  <a:srgbClr val="FFFFFF"/>
                </a:solidFill>
                <a:latin typeface="游ゴシック"/>
              </a:rPr>
              <a:t>リード（フォーム）：0件　※直近7日間、結果なし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B8C"/>
                </a:solidFill>
                <a:latin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游明朝"/>
              </a:rPr>
              <a:t>発見した2つの課題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6400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6B8C"/>
                </a:solidFill>
                <a:latin typeface="游ゴシック"/>
              </a:rPr>
              <a:t>数値の裏付けをもとに、課題を構造的に特定しました。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49240" cy="41605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349240" cy="59436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349240" cy="228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937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游ゴシック"/>
              </a:rPr>
              <a:t>① 動画クリエイティブの離脱問題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●"/>
            </a:pPr>
            <a:r>
              <a:rPr sz="1350">
                <a:solidFill>
                  <a:srgbClr val="21295C"/>
                </a:solidFill>
                <a:latin typeface="游ゴシック"/>
              </a:rPr>
              <a:t>冒頭4秒で視聴者の約60%が離脱</a:t>
            </a:r>
          </a:p>
          <a:p>
            <a:pPr marL="228600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●"/>
            </a:pPr>
            <a:r>
              <a:rPr sz="1350">
                <a:solidFill>
                  <a:srgbClr val="21295C"/>
                </a:solidFill>
                <a:latin typeface="游ゴシック"/>
              </a:rPr>
              <a:t>フック率 31% は目標達成も、継続率 約6% に課題</a:t>
            </a:r>
          </a:p>
          <a:p>
            <a:pPr marL="228600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●"/>
            </a:pPr>
            <a:r>
              <a:rPr sz="1350">
                <a:solidFill>
                  <a:srgbClr val="21295C"/>
                </a:solidFill>
                <a:latin typeface="游ゴシック"/>
              </a:rPr>
              <a:t>原因：冒頭が「会社目線の説明」から始まり、</a:t>
            </a:r>
          </a:p>
          <a:p>
            <a:pPr marL="457200" lvl="1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–"/>
            </a:pPr>
            <a:r>
              <a:rPr sz="1200">
                <a:solidFill>
                  <a:srgbClr val="21295C"/>
                </a:solidFill>
                <a:latin typeface="游ゴシック"/>
              </a:rPr>
              <a:t>視聴者が“自分ごと”として捉えられていない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394960" cy="41605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240280"/>
            <a:ext cx="539496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4937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游ゴシック"/>
              </a:rPr>
              <a:t>② リード獲得フォームの技術的不具合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892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●"/>
            </a:pPr>
            <a:r>
              <a:rPr sz="1350">
                <a:solidFill>
                  <a:srgbClr val="21295C"/>
                </a:solidFill>
                <a:latin typeface="游ゴシック"/>
              </a:rPr>
              <a:t>フォームの言語設定が English (US) のままで、</a:t>
            </a:r>
          </a:p>
          <a:p>
            <a:pPr marL="457200" lvl="1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–"/>
            </a:pPr>
            <a:r>
              <a:rPr sz="1200">
                <a:solidFill>
                  <a:srgbClr val="21295C"/>
                </a:solidFill>
                <a:latin typeface="游ゴシック"/>
              </a:rPr>
              <a:t>送信ボタンが「Continue」と英語表示に</a:t>
            </a:r>
          </a:p>
          <a:p>
            <a:pPr marL="228600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●"/>
            </a:pPr>
            <a:r>
              <a:rPr sz="1350">
                <a:solidFill>
                  <a:srgbClr val="21295C"/>
                </a:solidFill>
                <a:latin typeface="游ゴシック"/>
              </a:rPr>
              <a:t>フォームタイプも「高い意向」（確認ステップあり）</a:t>
            </a:r>
          </a:p>
          <a:p>
            <a:pPr marL="457200" lvl="1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–"/>
            </a:pPr>
            <a:r>
              <a:rPr sz="1200">
                <a:solidFill>
                  <a:srgbClr val="21295C"/>
                </a:solidFill>
                <a:latin typeface="游ゴシック"/>
              </a:rPr>
              <a:t>で、送信のハードルが高い状態だった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B8C"/>
                </a:solidFill>
                <a:latin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游明朝"/>
              </a:rPr>
              <a:t>実施した改善アクション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6400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6B8C"/>
                </a:solidFill>
                <a:latin typeface="游ゴシック"/>
              </a:rPr>
              <a:t>発見した課題に対して、即座に手を打ちました。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9456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游明朝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965960"/>
            <a:ext cx="987552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965960"/>
            <a:ext cx="93268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1295C"/>
                </a:solidFill>
                <a:latin typeface="游ゴシック"/>
              </a:rPr>
              <a:t>フォームを新規複製し、言語設定を「Japanese (Japan)」に変更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7472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游明朝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246120"/>
            <a:ext cx="987552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3246120"/>
            <a:ext cx="93268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1295C"/>
                </a:solidFill>
                <a:latin typeface="游ゴシック"/>
              </a:rPr>
              <a:t>フォームタイプを「大量用」（確認ステップなし）に変更し、送信ハードルを軽減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游明朝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4526280"/>
            <a:ext cx="987552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91640" y="4526280"/>
            <a:ext cx="93268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1295C"/>
                </a:solidFill>
                <a:latin typeface="游ゴシック"/>
              </a:rPr>
              <a:t>パターンBの広告に新フォームを差し替え済み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603504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游明朝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5806440"/>
            <a:ext cx="9875520" cy="10241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91640" y="5806440"/>
            <a:ext cx="93268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游ゴシック"/>
              </a:rPr>
              <a:t>効果反映には2〜3日のMeta学習期間が必要 — 来週には数値で確認できる見込み  ［効果待ち］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B8C"/>
                </a:solidFill>
                <a:latin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游明朝"/>
              </a:rPr>
              <a:t>Meta AIによる新しい診断結果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6400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6B8C"/>
                </a:solidFill>
                <a:latin typeface="游ゴシック"/>
              </a:rPr>
              <a:t>課題認識を裏付ける、客観的なベンチマークデータが得られました。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游明朝"/>
              </a:rPr>
              <a:t>クリエイティブ診断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05A47"/>
                </a:solidFill>
                <a:latin typeface="游明朝"/>
              </a:rPr>
              <a:t>「平均以下」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4800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游ゴシック"/>
              </a:rPr>
              <a:t>品質・エンゲージメント率・コンバージョン率の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游ゴシック"/>
              </a:rPr>
              <a:t>すべての項目で「平均以下」と診断されました。</a:t>
            </a:r>
          </a:p>
          <a:p>
            <a:pPr algn="l">
              <a:lnSpc>
                <a:spcPct val="140000"/>
              </a:lnSpc>
            </a:pPr>
            <a:endParaRPr sz="1300" b="0" i="0">
              <a:solidFill>
                <a:srgbClr val="21295C"/>
              </a:solidFill>
              <a:latin typeface="游ゴシック"/>
            </a:endParaRP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游ゴシック"/>
              </a:rPr>
              <a:t>現在のクリエイティブが、ターゲットの関心を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游ゴシック"/>
              </a:rPr>
              <a:t>十分に引けていないことを示しています。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游明朝"/>
              </a:rPr>
              <a:t>ランディングページビュー単価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05A47"/>
                </a:solidFill>
                <a:latin typeface="游明朝"/>
              </a:rPr>
              <a:t>同業他社より +19% 高い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937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游ゴシック"/>
              </a:rPr>
              <a:t>類似広告セットのLPV単価の中央値 $39.00 に対し、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游ゴシック"/>
              </a:rPr>
              <a:t>自社は ¥49〜56 という結果に（広告管理画面の表示）。</a:t>
            </a:r>
          </a:p>
          <a:p>
            <a:pPr algn="l">
              <a:lnSpc>
                <a:spcPct val="140000"/>
              </a:lnSpc>
            </a:pPr>
            <a:endParaRPr sz="1300" b="0" i="0">
              <a:solidFill>
                <a:srgbClr val="21295C"/>
              </a:solidFill>
              <a:latin typeface="游ゴシック"/>
            </a:endParaRP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游ゴシック"/>
              </a:rPr>
              <a:t>→ 現在制作中の新クリエイティブの必要性を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游ゴシック"/>
              </a:rPr>
              <a:t>裏付ける、客観的な根拠となります。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B8C"/>
                </a:solidFill>
                <a:latin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游明朝"/>
              </a:rPr>
              <a:t>今後の取り組み｜新CM動画の制作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6400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A6B8C"/>
                </a:solidFill>
                <a:latin typeface="游ゴシック"/>
              </a:rPr>
              <a:t>課題を踏まえ、新しいクリエイティブの制作を推進中です。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游明朝"/>
              </a:rPr>
              <a:t>企画概要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●"/>
            </a:pPr>
            <a:r>
              <a:rPr sz="1300">
                <a:solidFill>
                  <a:srgbClr val="21295C"/>
                </a:solidFill>
                <a:latin typeface="游ゴシック"/>
              </a:rPr>
              <a:t>ターゲット：鹿児島の個人マンションオーナー</a:t>
            </a:r>
          </a:p>
          <a:p>
            <a:pPr marL="228600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●"/>
            </a:pPr>
            <a:r>
              <a:rPr sz="1300">
                <a:solidFill>
                  <a:srgbClr val="21295C"/>
                </a:solidFill>
                <a:latin typeface="游ゴシック"/>
              </a:rPr>
              <a:t>テーマ：インターネット無料設備の導入提案</a:t>
            </a:r>
          </a:p>
          <a:p>
            <a:pPr marL="228600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●"/>
            </a:pPr>
            <a:r>
              <a:rPr sz="1300">
                <a:solidFill>
                  <a:srgbClr val="21295C"/>
                </a:solidFill>
                <a:latin typeface="游ゴシック"/>
              </a:rPr>
              <a:t>フックコンセプト：</a:t>
            </a:r>
          </a:p>
          <a:p>
            <a:pPr marL="457200" lvl="1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–"/>
            </a:pPr>
            <a:r>
              <a:rPr sz="1150">
                <a:solidFill>
                  <a:srgbClr val="21295C"/>
                </a:solidFill>
                <a:latin typeface="游ゴシック"/>
              </a:rPr>
              <a:t>「鹿児島の入居者、もうWi-Fi無しでは決めません」</a:t>
            </a:r>
          </a:p>
          <a:p>
            <a:pPr marL="457200" lvl="1" indent="-228600" algn="l">
              <a:lnSpc>
                <a:spcPct val="110000"/>
              </a:lnSpc>
              <a:spcAft>
                <a:spcPts val="1000"/>
              </a:spcAft>
              <a:buFont typeface="Arial"/>
              <a:buChar char="–"/>
            </a:pPr>
            <a:r>
              <a:rPr sz="1150">
                <a:solidFill>
                  <a:srgbClr val="21295C"/>
                </a:solidFill>
                <a:latin typeface="游ゴシック"/>
              </a:rPr>
              <a:t>（空室危機への問題提起から入る構成）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9" y="1920240"/>
            <a:ext cx="5799909" cy="41148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游明朝"/>
              </a:rPr>
              <a:t>AIエージェントチームによる制作体制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8892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788920"/>
            <a:ext cx="96926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游ゴシック"/>
              </a:rPr>
              <a:t>企画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8624" y="2788920"/>
            <a:ext cx="11887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游ゴシック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278892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97496" y="2788920"/>
            <a:ext cx="96926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游ゴシック"/>
              </a:rPr>
              <a:t>台本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88920"/>
            <a:ext cx="11887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游ゴシック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278892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2788920"/>
            <a:ext cx="96926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游ゴシック"/>
              </a:rPr>
              <a:t>絵コンテ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4896" y="2788920"/>
            <a:ext cx="11887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游ゴシック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3768" y="278892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73768" y="2788920"/>
            <a:ext cx="96926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游ゴシック"/>
              </a:rPr>
              <a:t>素材生成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3032" y="2788920"/>
            <a:ext cx="11887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游ゴシック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61904" y="2788920"/>
            <a:ext cx="969264" cy="77724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61904" y="2788920"/>
            <a:ext cx="96926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游ゴシック"/>
              </a:rPr>
              <a:t>投稿最適化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886200"/>
            <a:ext cx="51206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游ゴシック"/>
              </a:rPr>
              <a:t>各専門エージェントが連携し、ブリーフから台本・絵コンテ・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游ゴシック"/>
              </a:rPr>
              <a:t>AI生成プロンプト・投稿設定までを一気通貫で制作。</a:t>
            </a:r>
          </a:p>
          <a:p>
            <a:pPr algn="l">
              <a:lnSpc>
                <a:spcPct val="140000"/>
              </a:lnSpc>
            </a:pPr>
            <a:endParaRPr sz="1300" b="0" i="0">
              <a:solidFill>
                <a:srgbClr val="CADCFC"/>
              </a:solidFill>
              <a:latin typeface="游ゴシック"/>
            </a:endParaRP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游ゴシック"/>
              </a:rPr>
              <a:t>完成後は現行クリエイティブと差し替え、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ADCFC"/>
                </a:solidFill>
                <a:latin typeface="游ゴシック"/>
              </a:rPr>
              <a:t>「冒頭4秒の離脱」の改善を狙います。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B8C"/>
                </a:solidFill>
                <a:latin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游明朝"/>
              </a:rPr>
              <a:t>今後のスケジュール・まとめ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640080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11880" cy="54864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361188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游明朝"/>
              </a:rPr>
              <a:t>今週〜来週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1295C"/>
                </a:solidFill>
                <a:latin typeface="游ゴシック"/>
              </a:rPr>
              <a:t>フォーム改善の効果を数値で確認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96596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25112" y="1965960"/>
            <a:ext cx="3611880" cy="54864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5112" y="2240280"/>
            <a:ext cx="361188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96596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游明朝"/>
              </a:rPr>
              <a:t>今月中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697480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1295C"/>
                </a:solidFill>
                <a:latin typeface="游ゴシック"/>
              </a:rPr>
              <a:t>新CM動画を完成させ、現行クリエイティブと差し替え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96596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01583" y="1965960"/>
            <a:ext cx="3611880" cy="54864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2240280"/>
            <a:ext cx="361188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01583" y="196596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游明朝"/>
              </a:rPr>
              <a:t>来月以降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697480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1295C"/>
                </a:solidFill>
                <a:latin typeface="游ゴシック"/>
              </a:rPr>
              <a:t>結果を見ながら予算増額を検討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游明朝"/>
              </a:rPr>
              <a:t>まとめ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0789920" cy="141732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93776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FFFFFF"/>
                </a:solidFill>
                <a:latin typeface="游ゴシック"/>
              </a:rPr>
              <a:t>「分析 → 原因特定 → 改善実施 → 新クリエイティブ制作」の一連の流れを着実に進め、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FFFFFF"/>
                </a:solidFill>
                <a:latin typeface="游ゴシック"/>
              </a:rPr>
              <a:t>来月の問い合わせ獲得を目指します。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B8C"/>
                </a:solidFill>
                <a:latin typeface="游ゴシック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613</Words>
  <Application>Microsoft Office PowerPoint</Application>
  <PresentationFormat>ワイド画面</PresentationFormat>
  <Paragraphs>184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游明朝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福山 泰仁</cp:lastModifiedBy>
  <cp:revision>2</cp:revision>
  <dcterms:created xsi:type="dcterms:W3CDTF">2013-01-27T09:14:16Z</dcterms:created>
  <dcterms:modified xsi:type="dcterms:W3CDTF">2026-06-08T07:52:02Z</dcterms:modified>
  <cp:category/>
</cp:coreProperties>
</file>