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1F1F"/>
                </a:solidFill>
              </a:rPr>
              <a:t>LPV件数（件）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LPV件数</c:v>
                </c:pt>
              </c:strCache>
            </c:strRef>
          </c:tx>
          <c:spPr>
            <a:solidFill>
              <a:srgbClr val="99BBDD"/>
            </a:solidFill>
          </c:spPr>
          <c:dLbls>
            <c:txPr>
              <a:bodyPr/>
              <a:lstStyle/>
              <a:p>
                <a:pPr>
                  <a:defRPr sz="1000" b="1">
                    <a:solidFill>
                      <a:srgbClr val="1F1F1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前月同時期
5/5〜5/18</c:v>
                </c:pt>
                <c:pt idx="1">
                  <c:v>今月
6/5〜6/17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89</c:v>
                </c:pt>
                <c:pt idx="1">
                  <c:v>74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1F1F"/>
                </a:solidFill>
              </a:rPr>
              <a:t>LPV単価（円）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LPV単価</c:v>
                </c:pt>
              </c:strCache>
            </c:strRef>
          </c:tx>
          <c:spPr>
            <a:solidFill>
              <a:srgbClr val="99BBDD"/>
            </a:solidFill>
          </c:spPr>
          <c:dLbls>
            <c:txPr>
              <a:bodyPr/>
              <a:lstStyle/>
              <a:p>
                <a:pPr>
                  <a:defRPr sz="1000" b="1">
                    <a:solidFill>
                      <a:srgbClr val="1F1F1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前月同時期
5/5〜5/18</c:v>
                </c:pt>
                <c:pt idx="1">
                  <c:v>今月
6/5〜6/17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</c:v>
                </c:pt>
                <c:pt idx="1">
                  <c:v>58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1F1F"/>
                </a:solidFill>
              </a:rPr>
              <a:t>フォームリード（件）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リード</c:v>
                </c:pt>
              </c:strCache>
            </c:strRef>
          </c:tx>
          <c:spPr>
            <a:solidFill>
              <a:srgbClr val="99BBDD"/>
            </a:solidFill>
          </c:spPr>
          <c:dLbls>
            <c:txPr>
              <a:bodyPr/>
              <a:lstStyle/>
              <a:p>
                <a:pPr>
                  <a:defRPr sz="1000" b="1">
                    <a:solidFill>
                      <a:srgbClr val="1F1F1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前月同時期
5/5〜5/18</c:v>
                </c:pt>
                <c:pt idx="1">
                  <c:v>今月
6/5〜6/17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1F1F"/>
                </a:solidFill>
              </a:rPr>
              <a:t>フック率（%）― 冒頭3秒で止まった割合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フック率</c:v>
                </c:pt>
              </c:strCache>
            </c:strRef>
          </c:tx>
          <c:spPr>
            <a:solidFill>
              <a:srgbClr val="CCCCCC"/>
            </a:solidFill>
          </c:spPr>
          <c:dLbls>
            <c:txPr>
              <a:bodyPr/>
              <a:lstStyle/>
              <a:p>
                <a:pPr>
                  <a:defRPr sz="1000" b="1">
                    <a:solidFill>
                      <a:srgbClr val="1F1F1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前作A
(参考)</c:v>
                </c:pt>
                <c:pt idx="1">
                  <c:v>前作B
(参考)</c:v>
                </c:pt>
                <c:pt idx="2">
                  <c:v>今月LPV
(駆けつけ)</c:v>
                </c:pt>
                <c:pt idx="3">
                  <c:v>今月FO
(桜島)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</c:v>
                </c:pt>
                <c:pt idx="1">
                  <c:v>24</c:v>
                </c:pt>
                <c:pt idx="2">
                  <c:v>32</c:v>
                </c:pt>
                <c:pt idx="3">
                  <c:v>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F1F1F"/>
                </a:solidFill>
              </a:rPr>
              <a:t>継続率（%）― 動画を最後まで観た割合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継続率</c:v>
                </c:pt>
              </c:strCache>
            </c:strRef>
          </c:tx>
          <c:spPr>
            <a:solidFill>
              <a:srgbClr val="CCCCCC"/>
            </a:solidFill>
          </c:spPr>
          <c:dLbls>
            <c:txPr>
              <a:bodyPr/>
              <a:lstStyle/>
              <a:p>
                <a:pPr>
                  <a:defRPr sz="1000" b="1">
                    <a:solidFill>
                      <a:srgbClr val="1F1F1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前作A
(参考)</c:v>
                </c:pt>
                <c:pt idx="1">
                  <c:v>前作B
(参考)</c:v>
                </c:pt>
                <c:pt idx="2">
                  <c:v>今月LPV
(駆けつけ)</c:v>
                </c:pt>
                <c:pt idx="3">
                  <c:v>今月FO
(桜島)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6</c:v>
                </c:pt>
                <c:pt idx="2">
                  <c:v>3.84</c:v>
                </c:pt>
                <c:pt idx="3">
                  <c:v>13.29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88952" cy="338328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1887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BBFF"/>
                </a:solidFill>
              </a:rPr>
              <a:t>SNS広告 月次報告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2026年6月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BBFF"/>
                </a:solidFill>
              </a:rPr>
              <a:t>報告日：2026年6月19日　　営業課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エグゼクティブサマリー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CCFF"/>
                </a:solidFill>
              </a:rPr>
              <a:t>2026/06/05〜06/17　対象：Meta広告 2キャンペーン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4114800"/>
          </a:xfrm>
          <a:prstGeom prst="rect">
            <a:avLst/>
          </a:prstGeom>
          <a:solidFill>
            <a:srgbClr val="E8F5EE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1F1F"/>
                </a:solidFill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234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050"/>
                </a:solidFill>
              </a:rPr>
              <a:t>初リード獲得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</a:rPr>
              <a:t>Metaフォームキャンペーンから
初の問い合わせ1件を獲得
（¥4,256/件）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657600" cy="4114800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188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1F1F"/>
                </a:solidFill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234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2C6"/>
                </a:solidFill>
              </a:rPr>
              <a:t>LP到達コスト半減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8288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</a:rPr>
              <a:t>LPV単価が前月比-50%改善
（¥115 → ¥58）
LPV件数も+155%増加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3657600" cy="4114800"/>
          </a:xfrm>
          <a:prstGeom prst="rect">
            <a:avLst/>
          </a:prstGeom>
          <a:solidFill>
            <a:srgbClr val="FFF3E8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188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1F1F"/>
                </a:solidFill>
              </a:rPr>
              <a:t>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1234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00"/>
                </a:solidFill>
              </a:rPr>
              <a:t>動画継続率が課題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8288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</a:rPr>
              <a:t>フック率32%で引きつけながら
継続率3.84%と低水準
新CMで改善を図る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486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366"/>
                </a:solidFill>
              </a:rPr>
              <a:t>▶ 直近の最優先事項：新CM（乗り換えv2）の完成・投入によりフック後の離脱を改善する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広告パフォーマンス推移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CCFF"/>
                </a:solidFill>
              </a:rPr>
              <a:t>前月同時期（5/5〜5/18）vs 今月（6/5〜6/17）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005840"/>
          <a:ext cx="35661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206240" y="1005840"/>
          <a:ext cx="356616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0" y="1005840"/>
          <a:ext cx="3749039" cy="4114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349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</a:rPr>
              <a:t>※ 今月は2キャンペーン体制（LPV+フォーム）。消化金額は前月¥4,321→今月¥8,537（2キャンペーン合計）。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A/Bテスト：LP経由 vs Meta直接フォーム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303520" cy="4754880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C6"/>
                </a:solidFill>
              </a:rPr>
              <a:t>パターンA　LP経由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7676"/>
                </a:solidFill>
              </a:rPr>
              <a:t>広告　→　LP　→　問い合わせフォーム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5120640" cy="594360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299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7676"/>
                </a:solidFill>
              </a:rPr>
              <a:t>消化金額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0116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F1F1F"/>
                </a:solidFill>
              </a:rPr>
              <a:t>¥4,281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78608"/>
            <a:ext cx="5120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8833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7676"/>
                </a:solidFill>
              </a:rPr>
              <a:t>LP到達数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700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F1F1F"/>
                </a:solidFill>
              </a:rPr>
              <a:t>74件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36976"/>
            <a:ext cx="5120640" cy="594360"/>
          </a:xfrm>
          <a:prstGeom prst="rect">
            <a:avLst/>
          </a:prstGeom>
          <a:solidFill>
            <a:srgbClr val="F2F6FB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34670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7676"/>
                </a:solidFill>
              </a:rPr>
              <a:t>メール問い合わせ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3284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F1F1F"/>
                </a:solidFill>
              </a:rPr>
              <a:t>0件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95344"/>
            <a:ext cx="5120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00507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7676"/>
                </a:solidFill>
              </a:rPr>
              <a:t>リード単価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986783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F1F1F"/>
                </a:solidFill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</a:rPr>
              <a:t>LPに74件誘導するも問い合わせゼロ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005840"/>
            <a:ext cx="5577840" cy="4754880"/>
          </a:xfrm>
          <a:prstGeom prst="rect">
            <a:avLst/>
          </a:prstGeom>
          <a:solidFill>
            <a:srgbClr val="E8F5EE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0789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050"/>
                </a:solidFill>
              </a:rPr>
              <a:t>パターンB　Meta直接フォーム  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4813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7676"/>
                </a:solidFill>
              </a:rPr>
              <a:t>広告　→　Meta上のフォームで直接獲得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920240"/>
            <a:ext cx="5303520" cy="594360"/>
          </a:xfrm>
          <a:prstGeom prst="rect">
            <a:avLst/>
          </a:prstGeom>
          <a:solidFill>
            <a:srgbClr val="E8F5EE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02996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7676"/>
                </a:solidFill>
              </a:rPr>
              <a:t>消化金額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0116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F1F1F"/>
                </a:solidFill>
              </a:rPr>
              <a:t>¥4,256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578608"/>
            <a:ext cx="5303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68833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7676"/>
                </a:solidFill>
              </a:rPr>
              <a:t>フォームリード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6700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B050"/>
                </a:solidFill>
              </a:rPr>
              <a:t>★ 1件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236976"/>
            <a:ext cx="5303520" cy="594360"/>
          </a:xfrm>
          <a:prstGeom prst="rect">
            <a:avLst/>
          </a:prstGeom>
          <a:solidFill>
            <a:srgbClr val="E8F5EE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34670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7676"/>
                </a:solidFill>
              </a:rPr>
              <a:t>リード単価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33284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F1F1F"/>
                </a:solidFill>
              </a:rPr>
              <a:t>¥4,256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895344"/>
            <a:ext cx="53035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00507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7676"/>
                </a:solidFill>
              </a:rPr>
              <a:t>動画継続率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3986783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F1F1F"/>
                </a:solidFill>
              </a:rPr>
              <a:t>13.29%（全体最高）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572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050"/>
                </a:solidFill>
              </a:rPr>
              <a:t>直接フォームが初リード獲得  ＝ 優位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852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</a:rPr>
              <a:t>※ まだサンプル1件のため断定は早い。2〜3週間データを積んだ後に予算配分を判断する。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動画パフォーマンス比較（フック率・継続率）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005840"/>
          <a:ext cx="53035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005840"/>
          <a:ext cx="557784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5349240"/>
            <a:ext cx="11430000" cy="1188720"/>
          </a:xfrm>
          <a:prstGeom prst="rect">
            <a:avLst/>
          </a:prstGeom>
          <a:solidFill>
            <a:srgbClr val="FFF3E8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00"/>
                </a:solidFill>
              </a:rPr>
              <a:t>⚠ 課題：フックした後の中盤離脱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42432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</a:rPr>
              <a:t>LPVキャンペーンはフック率32%（過去最高）ながら継続率3.84%（最低水準）。冒頭で引きつけた視聴者の大半が4秒以降に離脱。制作中の新CM（乗り換えv2）で中盤構成を強化し、継続率の改善を図る。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次のアクション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463040" cy="10972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344168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🔴 最優先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051560"/>
            <a:ext cx="9784080" cy="1097280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40" y="1124712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1F1F"/>
                </a:solidFill>
              </a:rPr>
              <a:t>新CM（乗り換えv2）を完成させてLPVキャンペーンへ投入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581912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7676"/>
                </a:solidFill>
              </a:rPr>
              <a:t>フック後の離脱を改善し継続率を前作6%以上へ回復させる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39"/>
            <a:ext cx="1463040" cy="10972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670047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🔴 最優先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2377439"/>
            <a:ext cx="9784080" cy="1097280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2450591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1F1F"/>
                </a:solidFill>
              </a:rPr>
              <a:t>v2投入後3〜4日でフック率・継続率を前作と比較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907791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7676"/>
                </a:solidFill>
              </a:rPr>
              <a:t>改善が確認できればパターンAも差し替え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03320"/>
            <a:ext cx="1463040" cy="10972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3995928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🟡 次点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3703320"/>
            <a:ext cx="9784080" cy="1097280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3776472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1F1F"/>
                </a:solidFill>
              </a:rPr>
              <a:t>フォームリードの継続観察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4233672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7676"/>
                </a:solidFill>
              </a:rPr>
              <a:t>現状1件。2〜3件以上獲得できれば直接フォームへの予算シフトを検討する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29200"/>
            <a:ext cx="1463040" cy="1097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5321808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🟢 中期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5029200"/>
            <a:ext cx="9784080" cy="1097280"/>
          </a:xfrm>
          <a:prstGeom prst="rect">
            <a:avLst/>
          </a:prstGeom>
          <a:solidFill>
            <a:srgbClr val="F2F6FB"/>
          </a:solidFill>
          <a:ln w="12700">
            <a:solidFill>
              <a:srgbClr val="CC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40" y="5102352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1F1F"/>
                </a:solidFill>
              </a:rPr>
              <a:t>継続率・リード数が改善を確認後に予算増額を判断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559552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67676"/>
                </a:solidFill>
              </a:rPr>
              <a:t>現状¥320/日×2キャンペーン。データが揃ってから増額が鉄則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