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3" r:id="rId14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1F1F"/>
                </a:solidFill>
              </a:rPr>
              <a:t>LPV件数（件）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LPV件数</c:v>
                </c:pt>
              </c:strCache>
            </c:strRef>
          </c:tx>
          <c:spPr>
            <a:solidFill>
              <a:srgbClr val="99BBDD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前月同時期
5/5〜5/18</c:v>
                </c:pt>
                <c:pt idx="1">
                  <c:v>今月
6/5〜6/17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1F1F"/>
                </a:solidFill>
              </a:rPr>
              <a:t>LPV単価（円）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LPV単価</c:v>
                </c:pt>
              </c:strCache>
            </c:strRef>
          </c:tx>
          <c:spPr>
            <a:solidFill>
              <a:srgbClr val="99BBDD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前月同時期
5/5〜5/18</c:v>
                </c:pt>
                <c:pt idx="1">
                  <c:v>今月
6/5〜6/17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1F1F"/>
                </a:solidFill>
              </a:rPr>
              <a:t>消化金額（円）※今月は2キャンペーン合計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99BBDD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前月同時期
5/5〜5/18</c:v>
                </c:pt>
                <c:pt idx="1">
                  <c:v>今月
6/5〜6/17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4321</c:v>
                </c:pt>
                <c:pt idx="1">
                  <c:v>8537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E4FF"/>
                </a:solidFill>
              </a:rPr>
              <a:t>SNS CM制作・広告運用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活動報告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E4FF"/>
                </a:solidFill>
              </a:rPr>
              <a:t>2026年6月5日〜6月18日（2週間）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CFF"/>
                </a:solidFill>
              </a:rPr>
              <a:t>作成日：2026-06-18　　株式会社シナプス 営業課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KPI 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4FF"/>
                </a:solidFill>
              </a:rPr>
              <a:t>2026/06/05〜06/17　比較対象：前期（5/27〜6/2）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総消化金額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</a:rPr>
              <a:t>¥8,537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前期 ¥3,329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LPV件数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74件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4884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前期 29件 ▲155%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18872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LPV単価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55448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¥58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4884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前期 ¥115 ▼50%改善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18872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28016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フォームリード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55448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1件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4884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前期 0件 ★初獲得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346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フック率（LPV）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08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2C6"/>
                </a:solidFill>
              </a:rPr>
              <a:t>32%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前作 31% 過去最高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74320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8346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継続率（LPV）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108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00"/>
                </a:solidFill>
              </a:rPr>
              <a:t>3.84%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7033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前作 6% ⚠課題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74320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8346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継続率（フォーム）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108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13.29%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7033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全パターン最高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743200"/>
            <a:ext cx="2560320" cy="12801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28346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リード単価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108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</a:rPr>
              <a:t>¥4,256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7033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フォームキャンペーン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</a:rPr>
              <a:t>✅ フォーム修正（Japanese locale化）の効果が出始めた可能性　　⚠ 中盤離脱の改善が次の最優先課題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A/Bテスト：LP経由 vs Meta直接フォーム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50292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C6"/>
                </a:solidFill>
              </a:rPr>
              <a:t>パターンA　LP経由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</a:rPr>
              <a:t>広告　→　LP　→　フォーム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60320" cy="512063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048256"/>
            <a:ext cx="2468879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011680"/>
            <a:ext cx="2560320" cy="512063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7" y="2048256"/>
            <a:ext cx="2468879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数値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23744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560320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消化金額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523744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7" y="2560320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¥4,281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35808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072384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LPV件数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035808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7" y="3072384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74件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47872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584448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リード獲得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547872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7" y="3584448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0件（メールなし）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59935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4096511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リード単価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059935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7" y="4096511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</a:rPr>
              <a:t>LPに74件誘導するも問い合わせゼロ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E8F5E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50"/>
                </a:solidFill>
              </a:rPr>
              <a:t>パターンB　Meta直接フォーム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</a:rPr>
              <a:t>広告　→　Metaフォーム（LP不要）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011680"/>
            <a:ext cx="2560320" cy="5120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048256"/>
            <a:ext cx="2468879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59" y="2011680"/>
            <a:ext cx="2560320" cy="5120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16567" y="2048256"/>
            <a:ext cx="2468879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数値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523744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2560320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消化金額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59" y="2523744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7" y="2560320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¥4,256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035808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3072384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リード獲得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59" y="3035808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16567" y="3072384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★ 1件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547872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3584448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リード単価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59" y="3547872"/>
            <a:ext cx="2560320" cy="512063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16567" y="3584448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¥4,256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059935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4096511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継続率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59" y="4059935"/>
            <a:ext cx="2560320" cy="512063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16567" y="4096511"/>
            <a:ext cx="246887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13.29%（全体最高）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50"/>
                </a:solidFill>
              </a:rPr>
              <a:t>初リード獲得！直接フォームが優位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※ サンプルが少ないため引き続き観察が必要。2〜3週間データを積んだ後に予算配分を判断する。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動画パフォーマンス比較（全履歴）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811780" cy="65836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225296"/>
            <a:ext cx="27203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動画クリエイティブ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80" y="1188720"/>
            <a:ext cx="2811780" cy="65836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2988" y="1225296"/>
            <a:ext cx="27203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フック率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188720"/>
            <a:ext cx="2811780" cy="65836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225296"/>
            <a:ext cx="27203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継続率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2540" y="1188720"/>
            <a:ext cx="2811780" cy="65836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6548" y="1225296"/>
            <a:ext cx="27203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83664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LPVキャンペーン（駆けつけ訴求）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8980" y="1847088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8" y="1883664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32%
▲過去最高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847088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883664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3.84%
⚠最低水準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2540" y="1847088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6548" y="1883664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フックした後の中盤離脱が課題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05456"/>
            <a:ext cx="281178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542032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フォームキャンペーン（桜島俯瞰）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2505456"/>
            <a:ext cx="281178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2988" y="2542032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24%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505456"/>
            <a:ext cx="281178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2542032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13.29%
★全体最高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2540" y="2505456"/>
            <a:ext cx="281178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6548" y="2542032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中盤〜後半に引きつける力がある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3200400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前作パターンA（参考）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8980" y="3163824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2988" y="3200400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31%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163824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3200400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2540" y="3163824"/>
            <a:ext cx="2811780" cy="658368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6548" y="3200400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基準値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822191"/>
            <a:ext cx="28117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858768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前作パターンB（参考）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8980" y="3822191"/>
            <a:ext cx="28117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2988" y="3858768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24%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3822191"/>
            <a:ext cx="28117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3858768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2540" y="3822191"/>
            <a:ext cx="28117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6548" y="3858768"/>
            <a:ext cx="272034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基準値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</a:rPr>
              <a:t>⚠ 課題：フックした後の離脱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074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</a:rPr>
              <a:t>フック率32%で引きつけた視聴者の大半が4秒以降で離脱。
乗り換えCM v2では中盤（シーン②③）の構成強化が最重要ポイント。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今期の実施施策と結果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74904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22529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施策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88720"/>
            <a:ext cx="374904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122529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実施時期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188720"/>
            <a:ext cx="374904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22529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結果・ステータス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911095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フォームのJapanese locale化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74519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911095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6月上旬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874519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1911095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フォームリード初獲得に寄与した可能性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3749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5968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確認ステップ廃止（大量用フォームに変更）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560320"/>
            <a:ext cx="3749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5968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6月上旬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560320"/>
            <a:ext cx="3749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5968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申込ハードル低下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2826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パターンBの広告フォームを差し替え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246120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32826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6月上旬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3246120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2826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リード1件獲得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3749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39684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AIエージェントパイプライン構築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931920"/>
            <a:ext cx="3749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9684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6月上旬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3931920"/>
            <a:ext cx="3749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9288" y="39684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CM制作フローを完全整備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17720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" y="46542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乗り換えCM v2 ブリーフ・プロンプト作成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617720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6542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6月中旬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4617720"/>
            <a:ext cx="3749040" cy="68580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8" y="4654296"/>
            <a:ext cx="36576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🔄 動画化・編集を進行中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CM制作進捗｜乗り換えCM v2（巻き込まれ感からの解放）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749040" cy="51435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225296"/>
            <a:ext cx="3657600" cy="468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88720"/>
            <a:ext cx="3749040" cy="51435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1225296"/>
            <a:ext cx="3657600" cy="468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状況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188720"/>
            <a:ext cx="3749040" cy="51435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225296"/>
            <a:ext cx="3657600" cy="468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030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396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ブリーフ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7030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7396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7030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17396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briefs/brief_norikae_v2.md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174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2539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コンセプト・台本・絵コンテ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2174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2539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v3確定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2174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2539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前作から継承・改良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317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27683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静止画生成プロンプト（全シーン）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7317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7683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完成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27317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27683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①②B③A③B④A④A-2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32826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Flow I2Vプロンプト（全シーン）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2461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2826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</a:rPr>
              <a:t>✅ 完成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32461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9288" y="32826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Veo 3.1 Fast / Veo標準（④Aのみ）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604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" y="37970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動画化（Veo 3.1 Fast）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7604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37970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🔄 進行中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37604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8" y="37970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4秒×各シーン・1発生成ルール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748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43113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Canva合成素材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42748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43113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⏳ 待機中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4274820"/>
            <a:ext cx="3749040" cy="51435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9288" y="431139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②A・④A-2のUI文言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891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" y="48257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Premiere編集・書き出し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7891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0248" y="48257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⏳ 待機中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4789170"/>
            <a:ext cx="3749040" cy="51435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19288" y="4825746"/>
            <a:ext cx="3657600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</a:rPr>
              <a:t>9:16 / 1080×1920 / 30秒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</a:rPr>
              <a:t>v2の主な改善：③B駆けつけを車両到着案に固定　／　③ナレーションを20文字×2文に制限　／　④A-2（資料請求シーン）を新規追加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次のアクション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37160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6187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🔴 最優先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188720"/>
            <a:ext cx="9875520" cy="6858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325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乗り換えCM v2　動画素材完成・Premiere編集・書き出し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37160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7627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🔴 最優先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103120"/>
            <a:ext cx="9875520" cy="6858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240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v2をLPVキャンペーンのパターンB（フック率24%）と差し替え配信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371600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09067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🟡 次点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017520"/>
            <a:ext cx="9875520" cy="6858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31546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フォームリードの継続観察（1件が偶発か傾向かを判断）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1371600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00507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🟡 次点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931920"/>
            <a:ext cx="9875520" cy="6858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v2配信開始後3〜4日でフック率・継続率を前作と比較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1371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91947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🟢 中期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846320"/>
            <a:ext cx="9875520" cy="6858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4983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継続率改善を確認後、予算増額・パターンA差し替えを判断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前月同時期比較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4FF"/>
                </a:solidFill>
              </a:rPr>
              <a:t>5/5〜5/18（前月）　vs　6/5〜6/17（今月）　※LPVキャンペーン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3474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0" y="1097280"/>
          <a:ext cx="34747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0" y="1097280"/>
          <a:ext cx="3749039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00"/>
                </a:solidFill>
              </a:rPr>
              <a:t>⚠ 読み方の注意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</a:rPr>
              <a:t>LPV件数は前月89件→今月74件で減少、単価も¥49→¥58に上昇。ただし今月は新たにフォームキャンペーンを追加しており、消化金額の増加分はそちらに投下。フォームキャンペーンで初リード1件を獲得しており、チャネル分散の効果が出始め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